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Merriweather"/>
      <p:regular r:id="rId15"/>
      <p:bold r:id="rId16"/>
      <p:italic r:id="rId17"/>
      <p:boldItalic r:id="rId18"/>
    </p:embeddedFont>
    <p:embeddedFont>
      <p:font typeface="DM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slide" Target="slides/slide6.xml"/><Relationship Id="rId22" Type="http://schemas.openxmlformats.org/officeDocument/2006/relationships/font" Target="fonts/DMSans-boldItalic.fntdata"/><Relationship Id="rId10" Type="http://schemas.openxmlformats.org/officeDocument/2006/relationships/slide" Target="slides/slide5.xml"/><Relationship Id="rId21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regular.fntdata"/><Relationship Id="rId14" Type="http://schemas.openxmlformats.org/officeDocument/2006/relationships/slide" Target="slides/slide9.xml"/><Relationship Id="rId17" Type="http://schemas.openxmlformats.org/officeDocument/2006/relationships/font" Target="fonts/Merriweather-italic.fntdata"/><Relationship Id="rId16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regular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11" Type="http://schemas.openxmlformats.org/officeDocument/2006/relationships/image" Target="../media/image17.png"/><Relationship Id="rId10" Type="http://schemas.openxmlformats.org/officeDocument/2006/relationships/image" Target="../media/image29.png"/><Relationship Id="rId12" Type="http://schemas.openxmlformats.org/officeDocument/2006/relationships/image" Target="../media/image8.png"/><Relationship Id="rId9" Type="http://schemas.openxmlformats.org/officeDocument/2006/relationships/image" Target="../media/image31.png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6.png"/><Relationship Id="rId7" Type="http://schemas.openxmlformats.org/officeDocument/2006/relationships/image" Target="../media/image5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Relationship Id="rId10" Type="http://schemas.openxmlformats.org/officeDocument/2006/relationships/image" Target="../media/image24.png"/><Relationship Id="rId9" Type="http://schemas.openxmlformats.org/officeDocument/2006/relationships/image" Target="../media/image32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Relationship Id="rId7" Type="http://schemas.openxmlformats.org/officeDocument/2006/relationships/image" Target="../media/image25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8.png"/><Relationship Id="rId5" Type="http://schemas.openxmlformats.org/officeDocument/2006/relationships/image" Target="../media/image16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8125" y="1942207"/>
            <a:ext cx="1171575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Optimizing Causal Self-Attention on GPUs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985962" y="3641228"/>
            <a:ext cx="82200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Exploring Performance via Naive, Tiled, and Online-Softmax Kernels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819650" y="4715619"/>
            <a:ext cx="2552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GPU Specialization Capstone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81150"/>
            <a:ext cx="5429250" cy="35251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3209925"/>
            <a:ext cx="4838700" cy="77063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476250" y="1581150"/>
            <a:ext cx="57007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Core Mission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476250" y="2114550"/>
            <a:ext cx="5429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To implement, benchmark, and understand three distinct CUDA kernels for causal self-attention on a single attention head.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3219450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Implementation: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Build Naive, Shared-Memory Tiled, and Fused Online-Softmax kernels.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4019550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Validation: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Ensure numerical correctness against a CPU reference implementation.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4819650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Benchmarking: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Measure runtime performance across various sequence lengths and head dimensions.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5619750"/>
            <a:ext cx="5143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Analysis: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Understand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why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different GPU memory structures impact performance, moving beyond just proving they run.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81775" y="1876425"/>
            <a:ext cx="508063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The Attention Formula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81775" y="2409825"/>
            <a:ext cx="4838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standard scaled dot-product attention we are optimizing: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81775" y="4171057"/>
            <a:ext cx="4838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*The project implements the </a:t>
            </a:r>
            <a:r>
              <a:rPr b="0" i="1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causal</a:t>
            </a: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variant, where attention is restricted to past and present tokens (lower triangular mask).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76250" y="133350"/>
            <a:ext cx="11715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Objectives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476250" y="800100"/>
            <a:ext cx="112395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2385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0386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8387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56388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8518" y="3400425"/>
            <a:ext cx="3643312" cy="389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924050"/>
            <a:ext cx="3555950" cy="37144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924050"/>
            <a:ext cx="3555950" cy="37144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9650" y="1924050"/>
            <a:ext cx="3555950" cy="37144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71525" y="2905125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1. Naive Baseline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71525" y="3514725"/>
            <a:ext cx="29654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simple 3-stage pipeline (Scores -&gt; Softmax -&gt; Output). It explicitly computes and stores the full N x N score matrix in global memory.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71525" y="4996606"/>
            <a:ext cx="2965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Highly memory-bound.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13225" y="2905125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2. Shared-Memory Tiled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613225" y="3514725"/>
            <a:ext cx="29654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Improves the score computation stage by caching tiles of Queries (Q) and Keys (K) in fast on-chip shared memory.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613225" y="4783335"/>
            <a:ext cx="29654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AB308"/>
                </a:solidFill>
                <a:latin typeface="DM Sans"/>
                <a:ea typeface="DM Sans"/>
                <a:cs typeface="DM Sans"/>
                <a:sym typeface="DM Sans"/>
              </a:rPr>
              <a:t>Reduces bandwidth, but still stores full score matrix globally.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454925" y="2905125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3. Fused Online-Softmax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454925" y="3514725"/>
            <a:ext cx="29654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Processes one query row at a time. Computes max and denominator incrementally across KV tiles, updating output in-place.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454925" y="4783335"/>
            <a:ext cx="29654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2C55E"/>
                </a:solidFill>
                <a:latin typeface="DM Sans"/>
                <a:ea typeface="DM Sans"/>
                <a:cs typeface="DM Sans"/>
                <a:sym typeface="DM Sans"/>
              </a:rPr>
              <a:t>FlashAttention concept. Avoids N x N global memory matrix.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2669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5034706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13225" y="22669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13225" y="482143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54925" y="22669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54925" y="4821435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476250" y="476250"/>
            <a:ext cx="11715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The Three Kernel Architectures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476250" y="1143000"/>
            <a:ext cx="112395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667125"/>
            <a:ext cx="5429250" cy="8306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476250" y="2114550"/>
            <a:ext cx="5429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naive approach is straightforward but highlights the memory bottleneck of standard attention.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762000" y="2914650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Kernel 1 (scores_naive):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Computes . Writes entire lower-triangular matrix to Global Memory.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62000" y="3714750"/>
            <a:ext cx="5143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Kernel 2 (row_softmax):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Reads S from Global Memory, applies stable softmax reduction using block-level shared memory, writes probabilities back.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62000" y="4819650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Kernel 3 (weighted_value):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Reads probabilities and Values (V), computes final 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486525" y="2124075"/>
            <a:ext cx="73163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047261" y="2295525"/>
            <a:ext cx="915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4444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407151" y="2466975"/>
            <a:ext cx="915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4444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681442" y="2638425"/>
            <a:ext cx="915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4444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486525" y="2981325"/>
            <a:ext cx="310946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// S is materialized in Global Mem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438900" y="3819525"/>
            <a:ext cx="5124450" cy="525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Key Takeaway: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Easy to verify correctness, but performance is crushed by Global Memory reads/writes for the score matrix.</a:t>
            </a:r>
            <a:endParaRPr/>
          </a:p>
        </p:txBody>
      </p:sp>
      <p:pic>
        <p:nvPicPr>
          <p:cNvPr descr="image.png" id="152" name="Google Shape;15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0975" y="2924026"/>
            <a:ext cx="1280814" cy="2477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72575" y="4063305"/>
            <a:ext cx="855612" cy="25732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476250" y="476250"/>
            <a:ext cx="11715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284C7"/>
                </a:solidFill>
                <a:latin typeface="Merriweather"/>
                <a:ea typeface="Merriweather"/>
                <a:cs typeface="Merriweather"/>
                <a:sym typeface="Merriweather"/>
              </a:rPr>
              <a:t>1. The Naive Pipeline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476250" y="1143000"/>
            <a:ext cx="11239500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6" name="Google Shape;15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29337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37338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48387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57525" y="5200650"/>
            <a:ext cx="713482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181475"/>
            <a:ext cx="5429250" cy="103614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476250" y="2114550"/>
            <a:ext cx="5429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This stage introduces a central GPU optimization: reducing global memory traffic by caching data on-chip.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62000" y="291465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Maintains the 3-kernel pipeline structure.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62000" y="340995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Modifies the first kernel (scores_tiled).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62000" y="3905250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Loads a TILE-by-d block of Q and a block of K into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Shared Memory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62000" y="4705350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Threads compute dot products from Shared Memory instead of repeatedly fetching from Global Memory.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669434" y="2295525"/>
            <a:ext cx="3658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Courier New"/>
                <a:ea typeface="Courier New"/>
                <a:cs typeface="Courier New"/>
                <a:sym typeface="Courier New"/>
              </a:rPr>
              <a:t>load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669434" y="2466975"/>
            <a:ext cx="3658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Courier New"/>
                <a:ea typeface="Courier New"/>
                <a:cs typeface="Courier New"/>
                <a:sym typeface="Courier New"/>
              </a:rPr>
              <a:t>load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669434" y="2981325"/>
            <a:ext cx="265226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// Compute from shared memory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669434" y="3495675"/>
            <a:ext cx="915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F4444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438900" y="4333875"/>
            <a:ext cx="5124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Key Takeaway: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Reduces bandwidth pressure for Q and K, but </a:t>
            </a:r>
            <a:r>
              <a:rPr b="0" i="1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still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materializes the full S matrix. It isolates the benefit of tiling from the benefit of fusion.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476250" y="476250"/>
            <a:ext cx="11715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284C7"/>
                </a:solidFill>
                <a:latin typeface="Merriweather"/>
                <a:ea typeface="Merriweather"/>
                <a:cs typeface="Merriweather"/>
                <a:sym typeface="Merriweather"/>
              </a:rPr>
              <a:t>2. Shared-Memory Tiling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476250" y="1143000"/>
            <a:ext cx="11239500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8" name="Google Shape;17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9337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34290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39243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4724400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24050"/>
            <a:ext cx="5429250" cy="232469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476250" y="2114550"/>
            <a:ext cx="5429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most conceptually demanding kernel. It embodies the algorithmic improvement behind FlashAttention.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762000" y="2914650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Single Kernel: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Combines score, softmax, and value accumulation into one fused operation.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762000" y="3714750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Tile by Tile: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Iterates over key/value tiles for a single query row (handled by one block).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762000" y="4514850"/>
            <a:ext cx="5143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Incremental Updates: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Maintains running max and running denominator for stable softmax without seeing the whole row at once.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762000" y="561975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No N x N Matrix: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Output is updated incrementally in place.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486525" y="2124075"/>
            <a:ext cx="528066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Online Softmax Recurrence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486525" y="3488828"/>
            <a:ext cx="50292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The output accumulator is scaled by the ratio of old/new denominators to remain correct as new tiles are processed.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476250" y="476250"/>
            <a:ext cx="11715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3. Fused Online-Softmax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476250" y="1143000"/>
            <a:ext cx="112395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7" name="Google Shape;19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9337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37338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45339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563880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621905"/>
            <a:ext cx="2572196" cy="214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3026717"/>
            <a:ext cx="3280320" cy="271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924050"/>
            <a:ext cx="3619500" cy="2283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0" y="1924050"/>
            <a:ext cx="3619500" cy="2283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1924050"/>
            <a:ext cx="3619500" cy="228391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676275" y="2590800"/>
            <a:ext cx="338042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CPU Reference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76275" y="3124200"/>
            <a:ext cx="3219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Computes ground-truth for one batchless problem. Crucial for verifying the complex logic of the GPU kernels.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4486275" y="2590800"/>
            <a:ext cx="338042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CUDA Events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4486275" y="3124200"/>
            <a:ext cx="3219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Timing relies on CUDA events (start/stop) wrapped around multiple kernel iterations (after warmup) for stable averages.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8296275" y="2590800"/>
            <a:ext cx="338042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Error Checking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8296275" y="3124200"/>
            <a:ext cx="3219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Reports maximum absolute error against . Ensures numerical stability tricks (like tracking row max) are implemented correctly.</a:t>
            </a:r>
            <a:endParaRPr/>
          </a:p>
        </p:txBody>
      </p:sp>
      <p:pic>
        <p:nvPicPr>
          <p:cNvPr descr="image.png" id="217" name="Google Shape;21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216217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00300" y="3152775"/>
            <a:ext cx="383381" cy="195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86275" y="2162175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96275" y="2162175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96275" y="3396555"/>
            <a:ext cx="383381" cy="19526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/>
        </p:nvSpPr>
        <p:spPr>
          <a:xfrm>
            <a:off x="476250" y="476250"/>
            <a:ext cx="11715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Testing &amp; Benchmarking Harness</a:t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476250" y="1143000"/>
            <a:ext cx="112395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90700"/>
            <a:ext cx="5429250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7605950" y="2085975"/>
            <a:ext cx="279034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Significance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581775" y="2809875"/>
            <a:ext cx="4838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"This project moves past a basic CUDA demonstration... measuring behavior empirically, and including a fused attention kernel based on online softmax rather than a superficial parallelization."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762000" y="1790700"/>
            <a:ext cx="5143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Correctness vs. Performance: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Naive logic is easy to verify, but performant code requires complex structural changes.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762000" y="2895600"/>
            <a:ext cx="5143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Tiling Limits: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Shared memory helps bandwidth, but doesn't solve the core issue if the intermediate state is still saved globally.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762000" y="4000500"/>
            <a:ext cx="5143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Power of Fusion: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The Online-Softmax trick fundamentally changes memory requirements, enabling processing of longer sequences than previously possible on limited VRAM.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762000" y="5410200"/>
            <a:ext cx="5143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Math to Silicon: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Translating mathematical formulas directly to CUDA often yields poor results; algorithms must be adapted to hardware constraints.</a:t>
            </a:r>
            <a:endParaRPr/>
          </a:p>
        </p:txBody>
      </p:sp>
      <p:pic>
        <p:nvPicPr>
          <p:cNvPr descr="image.png" id="236" name="Google Shape;23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33800" y="3209776"/>
            <a:ext cx="855612" cy="25732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476250" y="342900"/>
            <a:ext cx="11715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Conclusions &amp; Lessons Learned</a:t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476250" y="1009650"/>
            <a:ext cx="112395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9" name="Google Shape;23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18097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29146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0195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5429250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5010864" y="1980307"/>
            <a:ext cx="2170271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Q&amp;A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4400550" y="3409057"/>
            <a:ext cx="33909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Thank you for your time.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4305300" y="4677667"/>
            <a:ext cx="3581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GitHub: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github.com/strawhat234567/GPUCapstone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